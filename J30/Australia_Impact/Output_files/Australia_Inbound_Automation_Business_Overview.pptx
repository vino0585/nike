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83"/>
    <p:restoredTop sz="94699"/>
  </p:normalViewPr>
  <p:slideViewPr>
    <p:cSldViewPr snapToGrid="0" snapToObjects="1">
      <p:cViewPr varScale="1">
        <p:scale>
          <a:sx n="186" d="100"/>
          <a:sy n="186" d="100"/>
        </p:scale>
        <p:origin x="224" y="7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141414"/>
                </a:solidFill>
              </a:defRPr>
            </a:pPr>
            <a:r>
              <a:t>Australia Inbound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5A5A5A"/>
                </a:solidFill>
              </a:defRPr>
            </a:pPr>
            <a:r>
              <a:rPr dirty="0"/>
              <a:t>Business-focused executive overview for team presentation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032" y="182880"/>
            <a:ext cx="1280160" cy="7200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1414"/>
                </a:solidFill>
              </a:defRPr>
            </a:pPr>
            <a:r>
              <a:t>Why This Initiative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447417" cy="2170611"/>
          </a:xfrm>
        </p:spPr>
        <p:txBody>
          <a:bodyPr/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Standardizes Australia inbound testing into one repeatable and auditable process.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Reduces manual coordination effort across ASN, delivery, appointment, and RF receiving steps.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Improves execution confidence through built-in controls and consistent output evidence.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Creates a scalable foundation for additional Australia-specific inbound capabilities.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rPr dirty="0"/>
              <a:t>Before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891" y="342900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1E1E"/>
                </a:solidFill>
              </a:defRPr>
            </a:pPr>
            <a:r>
              <a:rPr dirty="0"/>
              <a:t>After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23682"/>
            <a:ext cx="8708410" cy="1554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/>
              <a:defRPr sz="1900">
                <a:solidFill>
                  <a:srgbClr val="2D2D2D"/>
                </a:solidFill>
              </a:defRPr>
            </a:pPr>
            <a:r>
              <a:rPr dirty="0"/>
              <a:t>Multiple manual handoffs between steps.</a:t>
            </a:r>
          </a:p>
          <a:p>
            <a:pPr marL="457200" indent="-457200">
              <a:buFont typeface="+mj-lt"/>
              <a:buAutoNum type="arabicPeriod"/>
              <a:defRPr sz="1900">
                <a:solidFill>
                  <a:srgbClr val="2D2D2D"/>
                </a:solidFill>
              </a:defRPr>
            </a:pPr>
            <a:r>
              <a:rPr dirty="0"/>
              <a:t>Inconsistent runtime data handling and traceability.</a:t>
            </a:r>
          </a:p>
          <a:p>
            <a:pPr marL="457200" indent="-457200">
              <a:buFont typeface="+mj-lt"/>
              <a:buAutoNum type="arabicPeriod"/>
              <a:defRPr sz="1900">
                <a:solidFill>
                  <a:srgbClr val="2D2D2D"/>
                </a:solidFill>
              </a:defRPr>
            </a:pPr>
            <a:r>
              <a:rPr dirty="0"/>
              <a:t>Repeated login/token requests across programs.</a:t>
            </a:r>
          </a:p>
          <a:p>
            <a:pPr marL="457200" indent="-457200">
              <a:buFont typeface="+mj-lt"/>
              <a:buAutoNum type="arabicPeriod"/>
              <a:defRPr sz="1900">
                <a:solidFill>
                  <a:srgbClr val="2D2D2D"/>
                </a:solidFill>
              </a:defRPr>
            </a:pPr>
            <a:r>
              <a:rPr dirty="0"/>
              <a:t>Higher risk of missed dependencies between </a:t>
            </a:r>
            <a:r>
              <a:rPr lang="en-US" dirty="0"/>
              <a:t> </a:t>
            </a:r>
            <a:r>
              <a:rPr dirty="0"/>
              <a:t>appointment and check-in activities.</a:t>
            </a:r>
          </a:p>
          <a:p>
            <a:pPr marL="457200" indent="-457200">
              <a:buFont typeface="+mj-lt"/>
              <a:buAutoNum type="arabicPeriod"/>
              <a:defRPr sz="1900">
                <a:solidFill>
                  <a:srgbClr val="2D2D2D"/>
                </a:solidFill>
              </a:defRPr>
            </a:pPr>
            <a:r>
              <a:rPr dirty="0"/>
              <a:t>Limited executive-level reporting visibility.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891" y="3894794"/>
            <a:ext cx="8084842" cy="1554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>
              <a:buFont typeface="+mj-lt"/>
              <a:buAutoNum type="arabicPeriod"/>
              <a:defRPr sz="1900">
                <a:solidFill>
                  <a:srgbClr val="2D2D2D"/>
                </a:solidFill>
              </a:defRPr>
            </a:pPr>
            <a:r>
              <a:rPr dirty="0"/>
              <a:t>Single orchestrated flow driven from one control sheet.</a:t>
            </a:r>
          </a:p>
          <a:p>
            <a:pPr marL="457200" indent="-457200">
              <a:buFont typeface="+mj-lt"/>
              <a:buAutoNum type="arabicPeriod"/>
              <a:defRPr sz="1900">
                <a:solidFill>
                  <a:srgbClr val="2D2D2D"/>
                </a:solidFill>
              </a:defRPr>
            </a:pPr>
            <a:r>
              <a:rPr dirty="0"/>
              <a:t>Canonical worksheet as one source of truth for reads/writes.</a:t>
            </a:r>
          </a:p>
          <a:p>
            <a:pPr marL="457200" indent="-457200">
              <a:buFont typeface="+mj-lt"/>
              <a:buAutoNum type="arabicPeriod"/>
              <a:defRPr sz="1900">
                <a:solidFill>
                  <a:srgbClr val="2D2D2D"/>
                </a:solidFill>
              </a:defRPr>
            </a:pPr>
            <a:r>
              <a:rPr dirty="0"/>
              <a:t>Token reuse reduces unnecessary authentication traffic.</a:t>
            </a:r>
          </a:p>
          <a:p>
            <a:pPr marL="457200" indent="-457200">
              <a:buFont typeface="+mj-lt"/>
              <a:buAutoNum type="arabicPeriod"/>
              <a:defRPr sz="1900">
                <a:solidFill>
                  <a:srgbClr val="2D2D2D"/>
                </a:solidFill>
              </a:defRPr>
            </a:pPr>
            <a:r>
              <a:rPr dirty="0"/>
              <a:t>Dependent steps linked with stop conditions and validated transitions.</a:t>
            </a:r>
          </a:p>
          <a:p>
            <a:pPr marL="457200" indent="-457200">
              <a:buFont typeface="+mj-lt"/>
              <a:buAutoNum type="arabicPeriod"/>
              <a:defRPr sz="1900">
                <a:solidFill>
                  <a:srgbClr val="2D2D2D"/>
                </a:solidFill>
              </a:defRPr>
            </a:pPr>
            <a:r>
              <a:rPr dirty="0"/>
              <a:t>Professional DOCX summary generated for management and audit reviews.</a:t>
            </a:r>
          </a:p>
        </p:txBody>
      </p:sp>
      <p:pic>
        <p:nvPicPr>
          <p:cNvPr id="8" name="Picture 7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1414"/>
                </a:solidFill>
              </a:defRPr>
            </a:pPr>
            <a:r>
              <a:t>Salient Business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11134367" cy="4525963"/>
          </a:xfrm>
        </p:spPr>
        <p:txBody>
          <a:bodyPr/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Australia-only isolation protects parent J30 code and supports local process evolution.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Dock-door pre-check prevents downstream failures and avoids wasted execution.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Shared </a:t>
            </a:r>
            <a:r>
              <a:rPr dirty="0" err="1"/>
              <a:t>TrailerId</a:t>
            </a:r>
            <a:r>
              <a:rPr dirty="0"/>
              <a:t> and </a:t>
            </a:r>
            <a:r>
              <a:rPr dirty="0" err="1"/>
              <a:t>AppointmentId</a:t>
            </a:r>
            <a:r>
              <a:rPr dirty="0"/>
              <a:t> persistence improves operational consistency.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RF receiving supports palletization rules and adaptive parallel processing.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Error-focused logging improves troubleshooting while keeping normal logs clean.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1414"/>
                </a:solidFill>
              </a:defRPr>
            </a:pPr>
            <a:r>
              <a:t>Key Highlights from Recent Validation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2468880" cy="4389120"/>
          </a:xfrm>
          <a:prstGeom prst="rect">
            <a:avLst/>
          </a:prstGeom>
          <a:solidFill>
            <a:srgbClr val="F7F7F7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1</a:t>
            </a:r>
          </a:p>
          <a:p>
            <a:pPr algn="ctr">
              <a:defRPr sz="1600" b="1">
                <a:solidFill>
                  <a:srgbClr val="191919"/>
                </a:solidFill>
              </a:defRPr>
            </a:pPr>
            <a:r>
              <a:t>Canonical Input Source</a:t>
            </a:r>
          </a:p>
          <a:p>
            <a:pPr algn="ctr">
              <a:defRPr sz="1300">
                <a:solidFill>
                  <a:srgbClr val="5A5A5A"/>
                </a:solidFill>
              </a:defRPr>
            </a:pPr>
            <a:r>
              <a:t>Single workbook for all Australia inbound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11880" y="1371600"/>
            <a:ext cx="2468880" cy="4389120"/>
          </a:xfrm>
          <a:prstGeom prst="rect">
            <a:avLst/>
          </a:prstGeom>
          <a:solidFill>
            <a:srgbClr val="F7F7F7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dirty="0"/>
              <a:t>6</a:t>
            </a:r>
          </a:p>
          <a:p>
            <a:pPr algn="ctr">
              <a:defRPr sz="1600" b="1">
                <a:solidFill>
                  <a:srgbClr val="191919"/>
                </a:solidFill>
              </a:defRPr>
            </a:pPr>
            <a:r>
              <a:rPr dirty="0"/>
              <a:t>Automated Process Stages</a:t>
            </a:r>
          </a:p>
          <a:p>
            <a:pPr algn="ctr">
              <a:defRPr sz="1300">
                <a:solidFill>
                  <a:srgbClr val="5A5A5A"/>
                </a:solidFill>
              </a:defRPr>
            </a:pPr>
            <a:r>
              <a:rPr dirty="0"/>
              <a:t>ASN to RF receiving in a single orchestrated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371600"/>
            <a:ext cx="2468880" cy="4389120"/>
          </a:xfrm>
          <a:prstGeom prst="rect">
            <a:avLst/>
          </a:prstGeom>
          <a:solidFill>
            <a:srgbClr val="F7F7F7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dirty="0"/>
              <a:t>2</a:t>
            </a:r>
          </a:p>
          <a:p>
            <a:pPr algn="ctr">
              <a:defRPr sz="1600" b="1">
                <a:solidFill>
                  <a:srgbClr val="191919"/>
                </a:solidFill>
              </a:defRPr>
            </a:pPr>
            <a:r>
              <a:rPr dirty="0"/>
              <a:t>Concurrent RF Workers</a:t>
            </a:r>
          </a:p>
          <a:p>
            <a:pPr algn="ctr">
              <a:defRPr sz="1300">
                <a:solidFill>
                  <a:srgbClr val="5A5A5A"/>
                </a:solidFill>
              </a:defRPr>
            </a:pPr>
            <a:r>
              <a:rPr dirty="0"/>
              <a:t>Auto-scaled for 30 LPN scenario (2 pallets)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9555480" y="1371600"/>
            <a:ext cx="2468880" cy="4389120"/>
          </a:xfrm>
          <a:prstGeom prst="rect">
            <a:avLst/>
          </a:prstGeom>
          <a:solidFill>
            <a:srgbClr val="F7F7F7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dirty="0"/>
              <a:t>1</a:t>
            </a:r>
          </a:p>
          <a:p>
            <a:pPr algn="ctr">
              <a:defRPr sz="1600" b="1">
                <a:solidFill>
                  <a:srgbClr val="191919"/>
                </a:solidFill>
              </a:defRPr>
            </a:pPr>
            <a:r>
              <a:rPr dirty="0"/>
              <a:t>Consolidated Executive Report</a:t>
            </a:r>
          </a:p>
          <a:p>
            <a:pPr algn="ctr">
              <a:defRPr sz="1300">
                <a:solidFill>
                  <a:srgbClr val="5A5A5A"/>
                </a:solidFill>
              </a:defRPr>
            </a:pPr>
            <a:r>
              <a:rPr dirty="0"/>
              <a:t>DOCX with end-to-end + detailed step evidence</a:t>
            </a:r>
          </a:p>
        </p:txBody>
      </p:sp>
      <p:pic>
        <p:nvPicPr>
          <p:cNvPr id="8" name="Picture 7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1414"/>
                </a:solidFill>
              </a:defRPr>
            </a:pPr>
            <a:r>
              <a:t>Risk Reduction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9779955" cy="4525963"/>
          </a:xfrm>
        </p:spPr>
        <p:txBody>
          <a:bodyPr/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State persistence avoids duplicate or reset sequence identifiers across runs.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Structured controls reduce human error in high-volume LPN operations.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Run artifacts support auditability: who ran it, when, duration, and outcomes.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Design allows controlled expansion without rewriting core orchestration logic.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41414"/>
                </a:solidFill>
              </a:defRPr>
            </a:pPr>
            <a:r>
              <a:t>Roadmap and Team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1485002" cy="4525963"/>
          </a:xfrm>
        </p:spPr>
        <p:txBody>
          <a:bodyPr/>
          <a:lstStyle/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Next phase: add </a:t>
            </a:r>
            <a:r>
              <a:rPr dirty="0" err="1"/>
              <a:t>Droplocation</a:t>
            </a:r>
            <a:r>
              <a:rPr dirty="0"/>
              <a:t>, </a:t>
            </a:r>
            <a:r>
              <a:rPr dirty="0" err="1"/>
              <a:t>PutawayComplete</a:t>
            </a:r>
            <a:r>
              <a:rPr dirty="0"/>
              <a:t>, and </a:t>
            </a:r>
            <a:r>
              <a:rPr dirty="0" err="1"/>
              <a:t>ASNVerification</a:t>
            </a:r>
            <a:r>
              <a:rPr dirty="0"/>
              <a:t> into the same framework.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Validate thread-scaling behavior for higher LPN volumes in QA.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Use the deck and DOCX artifacts for stakeholder demos and release readiness reviews.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Team ask: approve pilot scope and success metrics for phased production hardening.</a:t>
            </a:r>
          </a:p>
          <a:p>
            <a:pPr>
              <a:defRPr sz="2200">
                <a:solidFill>
                  <a:srgbClr val="2D2D2D"/>
                </a:solidFill>
              </a:defRPr>
            </a:pPr>
            <a:r>
              <a:rPr dirty="0"/>
              <a:t>Prepared on 2026-09-01 11:05:57</a:t>
            </a:r>
          </a:p>
        </p:txBody>
      </p:sp>
      <p:pic>
        <p:nvPicPr>
          <p:cNvPr id="4" name="Picture 3" descr="Nik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80"/>
            <a:ext cx="1097280" cy="6172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373</Words>
  <Application>Microsoft Macintosh PowerPoint</Application>
  <PresentationFormat>Custom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Australia Inbound Automation</vt:lpstr>
      <vt:lpstr>Why This Initiative Matters</vt:lpstr>
      <vt:lpstr>PowerPoint Presentation</vt:lpstr>
      <vt:lpstr>Salient Business Features</vt:lpstr>
      <vt:lpstr>PowerPoint Presentation</vt:lpstr>
      <vt:lpstr>Risk Reduction and Governance</vt:lpstr>
      <vt:lpstr>Roadmap and Team Ask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Ganapathy, Vinothkumar</cp:lastModifiedBy>
  <cp:revision>2</cp:revision>
  <dcterms:created xsi:type="dcterms:W3CDTF">2013-01-27T09:14:16Z</dcterms:created>
  <dcterms:modified xsi:type="dcterms:W3CDTF">2026-09-01T15:19:36Z</dcterms:modified>
  <cp:category/>
</cp:coreProperties>
</file>