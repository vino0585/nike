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958975"/>
            <a:ext cx="9814034" cy="1470025"/>
          </a:xfrm>
        </p:spPr>
        <p:txBody>
          <a:bodyPr/>
          <a:lstStyle/>
          <a:p>
            <a:pPr>
              <a:defRPr sz="4000" b="1">
                <a:solidFill>
                  <a:srgbClr val="161616"/>
                </a:solidFill>
              </a:defRPr>
            </a:pPr>
            <a:r>
              <a:rPr dirty="0"/>
              <a:t>Australia Inbound Flow - Business Case</a:t>
            </a:r>
          </a:p>
        </p:txBody>
      </p:sp>
      <p:pic>
        <p:nvPicPr>
          <p:cNvPr id="4" name="Picture 3" descr="Nik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2" y="182880"/>
            <a:ext cx="1280160" cy="7200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1503" y="358721"/>
            <a:ext cx="8229600" cy="1143000"/>
          </a:xfrm>
        </p:spPr>
        <p:txBody>
          <a:bodyPr/>
          <a:lstStyle/>
          <a:p>
            <a:pPr>
              <a:defRPr sz="3200" b="1">
                <a:solidFill>
                  <a:srgbClr val="161616"/>
                </a:solidFill>
              </a:defRPr>
            </a:pPr>
            <a:r>
              <a:rPr dirty="0"/>
              <a:t>What Was Automated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072648" cy="4525963"/>
          </a:xfrm>
        </p:spPr>
        <p:txBody>
          <a:bodyPr/>
          <a:lstStyle/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End-to-end Australia inbound process from ASN creation through check-out and dock release.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Single orchestrated execution with worksheet-driven control and reusable flags.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Integrated RF flows: Receiving, Locate Pallet, and Putaway to Carton Storage.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Automated evidence generation in one consolidated Word report for each run.</a:t>
            </a:r>
          </a:p>
        </p:txBody>
      </p:sp>
      <p:pic>
        <p:nvPicPr>
          <p:cNvPr id="4" name="Picture 3" descr="Nik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82880"/>
            <a:ext cx="1097280" cy="6172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371766" y="246102"/>
            <a:ext cx="344529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1616"/>
                </a:solidFill>
              </a:defRPr>
            </a:pPr>
            <a:r>
              <a:rPr dirty="0"/>
              <a:t>Before vs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1616"/>
                </a:solidFill>
              </a:defRPr>
            </a:pPr>
            <a:r>
              <a:t>Manual Testing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1355" y="3094246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1616"/>
                </a:solidFill>
              </a:defRPr>
            </a:pPr>
            <a:r>
              <a:rPr dirty="0"/>
              <a:t>Automation Benefits Delivered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1645920"/>
            <a:ext cx="89942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</a:defRPr>
            </a:pPr>
            <a:r>
              <a:rPr dirty="0"/>
              <a:t>Step-by-step RF transactions require repetitive operator effort.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</a:defRPr>
            </a:pPr>
            <a:r>
              <a:rPr dirty="0"/>
              <a:t>High dependency on tester consistency across long scenarios.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</a:defRPr>
            </a:pPr>
            <a:r>
              <a:rPr dirty="0"/>
              <a:t>Frequent context switching between systems, sheets, and validations.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</a:defRPr>
            </a:pPr>
            <a:r>
              <a:rPr dirty="0"/>
              <a:t>Difficult to maintain repeatable evidence for each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891" y="3578773"/>
            <a:ext cx="89942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</a:defRPr>
            </a:pPr>
            <a:r>
              <a:rPr dirty="0"/>
              <a:t>Consistent sequence execution with controlled stop conditions.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</a:defRPr>
            </a:pPr>
            <a:r>
              <a:rPr dirty="0"/>
              <a:t>Shared state and worksheet write-backs reduce data handling errors.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</a:defRPr>
            </a:pPr>
            <a:r>
              <a:rPr dirty="0"/>
              <a:t>Threaded RF processing improves throughput for palletized tasks.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</a:defRPr>
            </a:pPr>
            <a:r>
              <a:rPr dirty="0"/>
              <a:t>Structured Word evidence supports audit, QA sign-off, and demos.</a:t>
            </a:r>
          </a:p>
        </p:txBody>
      </p:sp>
      <p:pic>
        <p:nvPicPr>
          <p:cNvPr id="8" name="Picture 7" descr="Nik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82880"/>
            <a:ext cx="1097280" cy="6172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7324" y="348210"/>
            <a:ext cx="8229600" cy="1143000"/>
          </a:xfrm>
        </p:spPr>
        <p:txBody>
          <a:bodyPr/>
          <a:lstStyle/>
          <a:p>
            <a:pPr>
              <a:defRPr sz="3200" b="1">
                <a:solidFill>
                  <a:srgbClr val="161616"/>
                </a:solidFill>
              </a:defRPr>
            </a:pPr>
            <a:r>
              <a:rPr dirty="0"/>
              <a:t>Salient Features for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135710" cy="4525963"/>
          </a:xfrm>
        </p:spPr>
        <p:txBody>
          <a:bodyPr/>
          <a:lstStyle/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Run-time controls: execute full flow or targeted sub-flows from </a:t>
            </a:r>
            <a:r>
              <a:rPr dirty="0" err="1"/>
              <a:t>InboundMaster</a:t>
            </a:r>
            <a:r>
              <a:rPr dirty="0"/>
              <a:t> flags.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Operational safeguards: dock-door availability checks and failure-based stop logic.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Data continuity: ASN, inbound delivery, appointment, pallet, and drop location persistence.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Resilience: retry/alternate behavior for location capacity constraints.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Scalability: configurable thread counts and per-pallet worker execution.</a:t>
            </a:r>
          </a:p>
        </p:txBody>
      </p:sp>
      <p:pic>
        <p:nvPicPr>
          <p:cNvPr id="4" name="Picture 3" descr="Nik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82880"/>
            <a:ext cx="1097280" cy="6172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64898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1616"/>
                </a:solidFill>
              </a:defRPr>
            </a:pPr>
            <a:r>
              <a:rPr dirty="0"/>
              <a:t>Estimated Time Savings vs Manual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0972800" cy="1097280"/>
          </a:xfrm>
          <a:prstGeom prst="rect">
            <a:avLst/>
          </a:prstGeom>
          <a:solidFill>
            <a:srgbClr val="F7F7F7"/>
          </a:solidFill>
          <a:ln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2D2D2D"/>
                </a:solidFill>
              </a:defRPr>
            </a:pPr>
            <a:r>
              <a:t>Assumptions (conservative): Manual full-cycle test ~45 minutes; automated supervised run ~12 minutes; ~33 minutes saved per cycle.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560320"/>
            <a:ext cx="2560320" cy="3474720"/>
          </a:xfrm>
          <a:prstGeom prst="rect">
            <a:avLst/>
          </a:prstGeom>
          <a:solidFill>
            <a:srgbClr val="FCFCFC"/>
          </a:solidFill>
          <a:ln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000000"/>
                </a:solidFill>
              </a:defRPr>
            </a:pPr>
            <a:r>
              <a:t>33 min</a:t>
            </a:r>
          </a:p>
          <a:p>
            <a:pPr algn="ctr">
              <a:defRPr sz="1500" b="1">
                <a:solidFill>
                  <a:srgbClr val="2D2D2D"/>
                </a:solidFill>
              </a:defRPr>
            </a:pPr>
            <a:r>
              <a:t>Saved per cycle</a:t>
            </a:r>
          </a:p>
          <a:p>
            <a:pPr algn="ctr">
              <a:defRPr sz="1300">
                <a:solidFill>
                  <a:srgbClr val="5A5A5A"/>
                </a:solidFill>
              </a:defRPr>
            </a:pPr>
            <a:r>
              <a:t>One full inbound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2560320"/>
            <a:ext cx="2560320" cy="3474720"/>
          </a:xfrm>
          <a:prstGeom prst="rect">
            <a:avLst/>
          </a:prstGeom>
          <a:solidFill>
            <a:srgbClr val="FCFCFC"/>
          </a:solidFill>
          <a:ln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000000"/>
                </a:solidFill>
              </a:defRPr>
            </a:pPr>
            <a:r>
              <a:t>3.9 hrs</a:t>
            </a:r>
          </a:p>
          <a:p>
            <a:pPr algn="ctr">
              <a:defRPr sz="1500" b="1">
                <a:solidFill>
                  <a:srgbClr val="2D2D2D"/>
                </a:solidFill>
              </a:defRPr>
            </a:pPr>
            <a:r>
              <a:t>Saved per 7 test cycles</a:t>
            </a:r>
          </a:p>
          <a:p>
            <a:pPr algn="ctr">
              <a:defRPr sz="1300">
                <a:solidFill>
                  <a:srgbClr val="5A5A5A"/>
                </a:solidFill>
              </a:defRPr>
            </a:pPr>
            <a:r>
              <a:t>Typical weekly QA regression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560320"/>
            <a:ext cx="2560320" cy="3474720"/>
          </a:xfrm>
          <a:prstGeom prst="rect">
            <a:avLst/>
          </a:prstGeom>
          <a:solidFill>
            <a:srgbClr val="FCFCFC"/>
          </a:solidFill>
          <a:ln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000000"/>
                </a:solidFill>
              </a:defRPr>
            </a:pPr>
            <a:r>
              <a:t>~202 hrs</a:t>
            </a:r>
          </a:p>
          <a:p>
            <a:pPr algn="ctr">
              <a:defRPr sz="1500" b="1">
                <a:solidFill>
                  <a:srgbClr val="2D2D2D"/>
                </a:solidFill>
              </a:defRPr>
            </a:pPr>
            <a:r>
              <a:t>Saved per year</a:t>
            </a:r>
          </a:p>
          <a:p>
            <a:pPr algn="ctr">
              <a:defRPr sz="1300">
                <a:solidFill>
                  <a:srgbClr val="5A5A5A"/>
                </a:solidFill>
              </a:defRPr>
            </a:pPr>
            <a:r>
              <a:t>Based on one weekly regression cadence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9006840" y="2560320"/>
            <a:ext cx="2560320" cy="3474720"/>
          </a:xfrm>
          <a:prstGeom prst="rect">
            <a:avLst/>
          </a:prstGeom>
          <a:solidFill>
            <a:srgbClr val="FCFCFC"/>
          </a:solidFill>
          <a:ln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000000"/>
                </a:solidFill>
              </a:defRPr>
            </a:pPr>
            <a:r>
              <a:t>Higher</a:t>
            </a:r>
          </a:p>
          <a:p>
            <a:pPr algn="ctr">
              <a:defRPr sz="1500" b="1">
                <a:solidFill>
                  <a:srgbClr val="2D2D2D"/>
                </a:solidFill>
              </a:defRPr>
            </a:pPr>
            <a:r>
              <a:t>Defect catch consistency</a:t>
            </a:r>
          </a:p>
          <a:p>
            <a:pPr algn="ctr">
              <a:defRPr sz="1300">
                <a:solidFill>
                  <a:srgbClr val="5A5A5A"/>
                </a:solidFill>
              </a:defRPr>
            </a:pPr>
            <a:r>
              <a:t>Repeatable flow reduces human misses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1264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Note: Savings are directional for business planning; actuals vary by test data size and environment response time.</a:t>
            </a:r>
          </a:p>
        </p:txBody>
      </p:sp>
      <p:pic>
        <p:nvPicPr>
          <p:cNvPr id="10" name="Picture 9" descr="Nik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82880"/>
            <a:ext cx="1097280" cy="6172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7835" y="228600"/>
            <a:ext cx="8229600" cy="1143000"/>
          </a:xfrm>
        </p:spPr>
        <p:txBody>
          <a:bodyPr/>
          <a:lstStyle/>
          <a:p>
            <a:pPr>
              <a:defRPr sz="3200" b="1">
                <a:solidFill>
                  <a:srgbClr val="161616"/>
                </a:solidFill>
              </a:defRPr>
            </a:pPr>
            <a:r>
              <a:rPr dirty="0"/>
              <a:t>Execution Proof (Latest Full Run)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1030607" cy="4525963"/>
          </a:xfrm>
        </p:spPr>
        <p:txBody>
          <a:bodyPr/>
          <a:lstStyle/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All key stages executed successfully in one end-to-end cycle.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Consolidated report includes every step from ASN through Verify/Check-Out/Release.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Latest report artifact: Inbound_Execution_Summary_20260903_203650.docx.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Automation handled location-capacity scenarios with alternate-location continuation logic.</a:t>
            </a:r>
          </a:p>
        </p:txBody>
      </p:sp>
      <p:pic>
        <p:nvPicPr>
          <p:cNvPr id="4" name="Picture 3" descr="Nik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82880"/>
            <a:ext cx="1097280" cy="6172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8345" y="228600"/>
            <a:ext cx="8229600" cy="1143000"/>
          </a:xfrm>
        </p:spPr>
        <p:txBody>
          <a:bodyPr/>
          <a:lstStyle/>
          <a:p>
            <a:pPr>
              <a:defRPr sz="3200" b="1">
                <a:solidFill>
                  <a:srgbClr val="161616"/>
                </a:solidFill>
              </a:defRPr>
            </a:pPr>
            <a:r>
              <a:rPr dirty="0"/>
              <a:t>Recommended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893972" cy="4525963"/>
          </a:xfrm>
        </p:spPr>
        <p:txBody>
          <a:bodyPr/>
          <a:lstStyle/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Use this flow as standard QA regression baseline for Australia inbound.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Track cycle-time metrics for 2-3 weeks to convert estimated savings to measured ROI.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Extend dashboarding for weekly pass/fail and duration trends for leadership visibility.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Prepared on 2026-09-03 20:42:07</a:t>
            </a:r>
          </a:p>
        </p:txBody>
      </p:sp>
      <p:pic>
        <p:nvPicPr>
          <p:cNvPr id="4" name="Picture 3" descr="Nik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82880"/>
            <a:ext cx="1097280" cy="6172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403</Words>
  <Application>Microsoft Macintosh PowerPoint</Application>
  <PresentationFormat>Custom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Australia Inbound Flow - Business Case</vt:lpstr>
      <vt:lpstr>What Was Automated</vt:lpstr>
      <vt:lpstr>PowerPoint Presentation</vt:lpstr>
      <vt:lpstr>Salient Features for Business</vt:lpstr>
      <vt:lpstr>PowerPoint Presentation</vt:lpstr>
      <vt:lpstr>Execution Proof (Latest Full Run)</vt:lpstr>
      <vt:lpstr>Recommended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Ganapathy, Vinothkumar</cp:lastModifiedBy>
  <cp:revision>2</cp:revision>
  <dcterms:created xsi:type="dcterms:W3CDTF">2013-01-27T09:14:16Z</dcterms:created>
  <dcterms:modified xsi:type="dcterms:W3CDTF">2026-09-04T00:47:34Z</dcterms:modified>
  <cp:category/>
</cp:coreProperties>
</file>